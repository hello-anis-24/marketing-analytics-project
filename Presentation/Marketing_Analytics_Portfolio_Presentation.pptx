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8E"/>
    <a:srgbClr val="005A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48" autoAdjust="0"/>
    <p:restoredTop sz="96236" autoAdjust="0"/>
  </p:normalViewPr>
  <p:slideViewPr>
    <p:cSldViewPr snapToGrid="0">
      <p:cViewPr varScale="1">
        <p:scale>
          <a:sx n="112" d="100"/>
          <a:sy n="112" d="100"/>
        </p:scale>
        <p:origin x="10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a:t>10/9/2026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a:t>‹#›</a:t>
            </a:fld>
            <a:endParaRPr lang="en-US"/>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a:solidFill>
                  <a:srgbClr val="00518E"/>
                </a:solidFill>
              </a:rPr>
              <a:t>Data Presentation</a:t>
            </a:r>
            <a:endParaRPr lang="nb-NO">
              <a:solidFill>
                <a:srgbClr val="00518E"/>
              </a:solidFill>
            </a:endParaRPr>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1524000" y="3724701"/>
            <a:ext cx="8888083" cy="701021"/>
          </a:xfrm>
        </p:spPr>
        <p:txBody>
          <a:bodyPr/>
          <a:lstStyle/>
          <a:p>
            <a:r>
              <a:rPr lang="en-US"/>
              <a:t>Marketing Analytics Portfolio Project</a:t>
            </a:r>
            <a:endParaRPr lang="nb-NO"/>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err="1"/>
              <a:t>Overview</a:t>
            </a:r>
            <a:endParaRPr lang="nb-NO"/>
          </a:p>
        </p:txBody>
      </p:sp>
      <p:sp>
        <p:nvSpPr>
          <p:cNvPr id="3" name="Content Placeholder 2">
            <a:extLst>
              <a:ext uri="{FF2B5EF4-FFF2-40B4-BE49-F238E27FC236}">
                <a16:creationId xmlns:a16="http://schemas.microsoft.com/office/drawing/2014/main" id="{22AD1BC6-5FB0-14D1-64FE-AE72C18161D7}"/>
              </a:ext>
            </a:extLst>
          </p:cNvPr>
          <p:cNvSpPr>
            <a:spLocks noGrp="1"/>
          </p:cNvSpPr>
          <p:nvPr>
            <p:ph sz="half" idx="1"/>
          </p:nvPr>
        </p:nvSpPr>
        <p:spPr>
          <a:xfrm>
            <a:off x="548130" y="1581150"/>
            <a:ext cx="3198370" cy="4561255"/>
          </a:xfrm>
        </p:spPr>
        <p:txBody>
          <a:bodyPr>
            <a:normAutofit/>
          </a:bodyPr>
          <a:lstStyle/>
          <a:p>
            <a:pPr marL="0" indent="0">
              <a:lnSpc>
                <a:spcPct val="140000"/>
              </a:lnSpc>
              <a:spcBef>
                <a:spcPts val="500"/>
              </a:spcBef>
              <a:buNone/>
            </a:pPr>
            <a:r>
              <a:rPr lang="en-GB" sz="1000" b="1"/>
              <a:t>Decreased Conversion Rate: </a:t>
            </a:r>
            <a:r>
              <a:rPr lang="en-GB" sz="1000"/>
              <a:t>The conversion rate demonstrated a strong rebound in December, reaching 10.3%, despite a notable dip to 5.1% in October.</a:t>
            </a:r>
          </a:p>
          <a:p>
            <a:pPr marL="0" indent="0">
              <a:lnSpc>
                <a:spcPct val="140000"/>
              </a:lnSpc>
              <a:spcBef>
                <a:spcPts val="500"/>
              </a:spcBef>
              <a:buNone/>
            </a:pPr>
            <a:r>
              <a:rPr lang="en-GB" sz="1000" b="1"/>
              <a:t>Reduced Customer Engagement:</a:t>
            </a:r>
          </a:p>
          <a:p>
            <a:pPr>
              <a:lnSpc>
                <a:spcPct val="140000"/>
              </a:lnSpc>
              <a:spcBef>
                <a:spcPts val="500"/>
              </a:spcBef>
            </a:pPr>
            <a:r>
              <a:rPr lang="en-GB" sz="1000"/>
              <a:t>There is a decline in overall social media engagement, with views dropping throughout the year. </a:t>
            </a:r>
          </a:p>
          <a:p>
            <a:pPr>
              <a:lnSpc>
                <a:spcPct val="140000"/>
              </a:lnSpc>
              <a:spcBef>
                <a:spcPts val="500"/>
              </a:spcBef>
            </a:pPr>
            <a:r>
              <a:rPr lang="en-GB" sz="1000"/>
              <a:t>While clicks and likes are low compared to views, the clicks-through rate stands at 15%, meaning that engaged users are still interacting effectively.</a:t>
            </a:r>
          </a:p>
          <a:p>
            <a:pPr marL="0" indent="0">
              <a:lnSpc>
                <a:spcPct val="140000"/>
              </a:lnSpc>
              <a:spcBef>
                <a:spcPts val="500"/>
              </a:spcBef>
              <a:buNone/>
            </a:pPr>
            <a:endParaRPr lang="en-US" sz="1000"/>
          </a:p>
          <a:p>
            <a:pPr marL="0" indent="0">
              <a:lnSpc>
                <a:spcPct val="140000"/>
              </a:lnSpc>
              <a:spcBef>
                <a:spcPts val="500"/>
              </a:spcBef>
              <a:buNone/>
            </a:pPr>
            <a:r>
              <a:rPr lang="en-GB" sz="1000" b="1"/>
              <a:t>Customer Feedback Analysis:</a:t>
            </a:r>
          </a:p>
          <a:p>
            <a:pPr>
              <a:lnSpc>
                <a:spcPct val="140000"/>
              </a:lnSpc>
              <a:spcBef>
                <a:spcPts val="500"/>
              </a:spcBef>
            </a:pPr>
            <a:r>
              <a:rPr lang="en-GB" sz="1000"/>
              <a:t>Customer ratings have remained consistent, averaging around 3.7 out of 5 throughout the year.</a:t>
            </a:r>
          </a:p>
          <a:p>
            <a:pPr>
              <a:lnSpc>
                <a:spcPct val="140000"/>
              </a:lnSpc>
              <a:spcBef>
                <a:spcPts val="500"/>
              </a:spcBef>
            </a:pPr>
            <a:r>
              <a:rPr lang="en-GB" sz="1000"/>
              <a:t>Although stable, the average rating is below the target of 4.0, suggesting a need for focused improvements in customer satisfaction, for products below 3.5</a:t>
            </a:r>
          </a:p>
          <a:p>
            <a:pPr>
              <a:lnSpc>
                <a:spcPct val="140000"/>
              </a:lnSpc>
              <a:spcBef>
                <a:spcPts val="500"/>
              </a:spcBef>
            </a:pPr>
            <a:endParaRPr lang="en-US" sz="1000"/>
          </a:p>
        </p:txBody>
      </p:sp>
      <p:pic>
        <p:nvPicPr>
          <p:cNvPr id="13" name="Picture 12">
            <a:extLst>
              <a:ext uri="{FF2B5EF4-FFF2-40B4-BE49-F238E27FC236}">
                <a16:creationId xmlns:a16="http://schemas.microsoft.com/office/drawing/2014/main" id="{CE3D86CD-18B9-19BF-4BB0-A778524CB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3457" y="1581150"/>
            <a:ext cx="7950286" cy="4670793"/>
          </a:xfrm>
          <a:prstGeom prst="rect">
            <a:avLst/>
          </a:prstGeom>
        </p:spPr>
      </p:pic>
      <p:sp>
        <p:nvSpPr>
          <p:cNvPr id="6" name="Oval 5">
            <a:extLst>
              <a:ext uri="{FF2B5EF4-FFF2-40B4-BE49-F238E27FC236}">
                <a16:creationId xmlns:a16="http://schemas.microsoft.com/office/drawing/2014/main" id="{65E499E4-E9E0-6475-CA15-0ADD44298084}"/>
              </a:ext>
            </a:extLst>
          </p:cNvPr>
          <p:cNvSpPr/>
          <p:nvPr/>
        </p:nvSpPr>
        <p:spPr>
          <a:xfrm>
            <a:off x="7310438" y="1892300"/>
            <a:ext cx="1076324" cy="80883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3775F5C1-7A8F-365B-BAC1-75146C38DD71}"/>
              </a:ext>
            </a:extLst>
          </p:cNvPr>
          <p:cNvCxnSpPr/>
          <p:nvPr/>
        </p:nvCxnSpPr>
        <p:spPr>
          <a:xfrm>
            <a:off x="10274300" y="3285515"/>
            <a:ext cx="1247775" cy="457200"/>
          </a:xfrm>
          <a:prstGeom prst="straightConnector1">
            <a:avLst/>
          </a:prstGeom>
          <a:ln w="254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B8D3A34B-163D-1847-968F-D7A0BA3D0E5E}"/>
              </a:ext>
            </a:extLst>
          </p:cNvPr>
          <p:cNvSpPr/>
          <p:nvPr/>
        </p:nvSpPr>
        <p:spPr>
          <a:xfrm>
            <a:off x="7178675" y="5172075"/>
            <a:ext cx="1076324" cy="6731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err="1"/>
              <a:t>Decreased</a:t>
            </a:r>
            <a:r>
              <a:rPr lang="nb-NO"/>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a:xfrm>
            <a:off x="838200" y="1594884"/>
            <a:ext cx="4293766" cy="4582079"/>
          </a:xfrm>
        </p:spPr>
        <p:txBody>
          <a:bodyPr>
            <a:normAutofit fontScale="40000" lnSpcReduction="20000"/>
          </a:bodyPr>
          <a:lstStyle/>
          <a:p>
            <a:pPr>
              <a:lnSpc>
                <a:spcPct val="170000"/>
              </a:lnSpc>
            </a:pPr>
            <a:r>
              <a:rPr lang="en-US" b="1"/>
              <a:t>General Conversion Trend:</a:t>
            </a:r>
          </a:p>
          <a:p>
            <a:pPr lvl="1">
              <a:lnSpc>
                <a:spcPct val="160000"/>
              </a:lnSpc>
            </a:pPr>
            <a:r>
              <a:rPr lang="en-US" sz="2500"/>
              <a:t>Conversion performance varied throughout the year, with several products showing stronger results in selected months. This suggests that while some products had strong seasonal peaks, there is potential to improve conversions in lower-performing months through targeted interventions.</a:t>
            </a:r>
          </a:p>
          <a:p>
            <a:pPr>
              <a:lnSpc>
                <a:spcPct val="170000"/>
              </a:lnSpc>
            </a:pPr>
            <a:r>
              <a:rPr lang="en-US" b="1"/>
              <a:t>Lowest Conversion Month:</a:t>
            </a:r>
          </a:p>
          <a:p>
            <a:pPr lvl="1">
              <a:lnSpc>
                <a:spcPct val="170000"/>
              </a:lnSpc>
            </a:pPr>
            <a:r>
              <a:rPr lang="en-US"/>
              <a:t>May experienced the lowest overall conversion rate at 4.5%, with no products standing out significantly in terms of conversion. This indicates a potential need to revisit marketing strategies or promotions during this period to boost performance.</a:t>
            </a:r>
          </a:p>
          <a:p>
            <a:pPr>
              <a:lnSpc>
                <a:spcPct val="170000"/>
              </a:lnSpc>
            </a:pPr>
            <a:r>
              <a:rPr lang="en-US" b="1"/>
              <a:t>Highest Conversion Month:</a:t>
            </a:r>
          </a:p>
          <a:p>
            <a:pPr lvl="1">
              <a:lnSpc>
                <a:spcPct val="170000"/>
              </a:lnSpc>
            </a:pPr>
            <a:r>
              <a:rPr lang="en-US"/>
              <a:t>January recorded the highest overall conversion rate at 19.6%, driven significantly by the Ski Boots with a remarkable 150% conversion. This indicates a strong start to the year, likely fueled by seasonal demand and effective marketing strategies.</a:t>
            </a:r>
          </a:p>
        </p:txBody>
      </p:sp>
      <p:pic>
        <p:nvPicPr>
          <p:cNvPr id="5" name="Picture 4">
            <a:extLst>
              <a:ext uri="{FF2B5EF4-FFF2-40B4-BE49-F238E27FC236}">
                <a16:creationId xmlns:a16="http://schemas.microsoft.com/office/drawing/2014/main" id="{A177D243-EC56-7455-C0B9-33D646574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333" y="1594884"/>
            <a:ext cx="6718426" cy="3864934"/>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270303" y="1594885"/>
            <a:ext cx="398762" cy="386493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Rectangle 9">
            <a:extLst>
              <a:ext uri="{FF2B5EF4-FFF2-40B4-BE49-F238E27FC236}">
                <a16:creationId xmlns:a16="http://schemas.microsoft.com/office/drawing/2014/main" id="{822306E3-9E78-5933-7AFB-131EB4D1BABF}"/>
              </a:ext>
            </a:extLst>
          </p:cNvPr>
          <p:cNvSpPr/>
          <p:nvPr/>
        </p:nvSpPr>
        <p:spPr>
          <a:xfrm>
            <a:off x="6668894" y="1594884"/>
            <a:ext cx="398762" cy="3864934"/>
          </a:xfrm>
          <a:prstGeom prst="rect">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a:t>Reduced Customer Engagement</a:t>
            </a:r>
            <a:endParaRPr lang="nb-NO"/>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a:t>Declining Views:</a:t>
            </a:r>
          </a:p>
          <a:p>
            <a:pPr lvl="1">
              <a:lnSpc>
                <a:spcPct val="170000"/>
              </a:lnSpc>
            </a:pPr>
            <a:r>
              <a:rPr lang="en-US"/>
              <a:t>Views peaked in March and May but declined from August and onward, indicating reduced audience engagement in the later half of the year.</a:t>
            </a:r>
          </a:p>
          <a:p>
            <a:pPr>
              <a:lnSpc>
                <a:spcPct val="170000"/>
              </a:lnSpc>
            </a:pPr>
            <a:r>
              <a:rPr lang="en-US" b="1"/>
              <a:t>Low Interaction Rates:</a:t>
            </a:r>
          </a:p>
          <a:p>
            <a:pPr lvl="1">
              <a:lnSpc>
                <a:spcPct val="170000"/>
              </a:lnSpc>
            </a:pPr>
            <a:r>
              <a:rPr lang="en-US"/>
              <a:t>Clicks and likes remained consistently low compared to views, suggesting the need for more engaging content or stronger call to action.</a:t>
            </a:r>
          </a:p>
          <a:p>
            <a:pPr>
              <a:lnSpc>
                <a:spcPct val="170000"/>
              </a:lnSpc>
            </a:pPr>
            <a:r>
              <a:rPr lang="en-US" b="1"/>
              <a:t>Content Type Performance:</a:t>
            </a:r>
          </a:p>
          <a:p>
            <a:pPr lvl="1">
              <a:lnSpc>
                <a:spcPct val="170000"/>
              </a:lnSpc>
            </a:pPr>
            <a:r>
              <a:rPr lang="en-US"/>
              <a:t>Blog content drove the most views, especially in March and May, while social media and video content maintained steady but slightly lower engagement.</a:t>
            </a:r>
            <a:endParaRPr lang="nb-NO"/>
          </a:p>
        </p:txBody>
      </p:sp>
      <p:pic>
        <p:nvPicPr>
          <p:cNvPr id="5" name="Picture 4">
            <a:extLst>
              <a:ext uri="{FF2B5EF4-FFF2-40B4-BE49-F238E27FC236}">
                <a16:creationId xmlns:a16="http://schemas.microsoft.com/office/drawing/2014/main" id="{78E1C09C-3E9D-FBDE-1B85-23BE46F4C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679743"/>
            <a:ext cx="4543877" cy="2176408"/>
          </a:xfrm>
          <a:prstGeom prst="rect">
            <a:avLst/>
          </a:prstGeom>
        </p:spPr>
      </p:pic>
      <p:pic>
        <p:nvPicPr>
          <p:cNvPr id="10" name="Picture 9">
            <a:extLst>
              <a:ext uri="{FF2B5EF4-FFF2-40B4-BE49-F238E27FC236}">
                <a16:creationId xmlns:a16="http://schemas.microsoft.com/office/drawing/2014/main" id="{37C21DC5-91FB-884A-A298-6D4C607A8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938163"/>
            <a:ext cx="4543877" cy="2554712"/>
          </a:xfrm>
          <a:prstGeom prst="rect">
            <a:avLst/>
          </a:prstGeom>
        </p:spPr>
      </p:pic>
      <p:cxnSp>
        <p:nvCxnSpPr>
          <p:cNvPr id="11" name="Straight Arrow Connector 10">
            <a:extLst>
              <a:ext uri="{FF2B5EF4-FFF2-40B4-BE49-F238E27FC236}">
                <a16:creationId xmlns:a16="http://schemas.microsoft.com/office/drawing/2014/main" id="{551C16FB-CD91-1B76-6D32-E66FA4AC0928}"/>
              </a:ext>
            </a:extLst>
          </p:cNvPr>
          <p:cNvCxnSpPr>
            <a:cxnSpLocks/>
          </p:cNvCxnSpPr>
          <p:nvPr/>
        </p:nvCxnSpPr>
        <p:spPr>
          <a:xfrm>
            <a:off x="9080205" y="2052084"/>
            <a:ext cx="1252830" cy="359570"/>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a:t>Customer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a:t>Customer Ratings Distribution:</a:t>
            </a:r>
          </a:p>
          <a:p>
            <a:pPr lvl="1">
              <a:lnSpc>
                <a:spcPct val="170000"/>
              </a:lnSpc>
            </a:pPr>
            <a:r>
              <a:rPr lang="en-US"/>
              <a:t>The majority  of customer reviews are in the higher ratings, with 140 reviews at 4 stars and 135 reviews at 5 stars, indicating overall positive feedback. Lower Ratings(1-2 Stars) account for a smaller proportion, with 26 reviews at 1 star and 57 reviews at 2 stars.</a:t>
            </a:r>
          </a:p>
          <a:p>
            <a:pPr>
              <a:lnSpc>
                <a:spcPct val="170000"/>
              </a:lnSpc>
            </a:pPr>
            <a:r>
              <a:rPr lang="en-US" b="1"/>
              <a:t>Sentiment Analysis:</a:t>
            </a:r>
          </a:p>
          <a:p>
            <a:pPr lvl="1">
              <a:lnSpc>
                <a:spcPct val="170000"/>
              </a:lnSpc>
            </a:pPr>
            <a:r>
              <a:rPr lang="en-US"/>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a:t>Opportunity for Improvement:</a:t>
            </a:r>
          </a:p>
          <a:p>
            <a:pPr lvl="1">
              <a:lnSpc>
                <a:spcPct val="170000"/>
              </a:lnSpc>
            </a:pPr>
            <a:r>
              <a:rPr lang="en-US"/>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a:p>
        </p:txBody>
      </p:sp>
      <p:pic>
        <p:nvPicPr>
          <p:cNvPr id="5" name="Picture 4">
            <a:extLst>
              <a:ext uri="{FF2B5EF4-FFF2-40B4-BE49-F238E27FC236}">
                <a16:creationId xmlns:a16="http://schemas.microsoft.com/office/drawing/2014/main" id="{51D0739D-9A4B-27FC-C1AC-A541BF413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2046" y="1690688"/>
            <a:ext cx="3139678" cy="2212725"/>
          </a:xfrm>
          <a:prstGeom prst="rect">
            <a:avLst/>
          </a:prstGeom>
        </p:spPr>
      </p:pic>
      <p:pic>
        <p:nvPicPr>
          <p:cNvPr id="9" name="Picture 8">
            <a:extLst>
              <a:ext uri="{FF2B5EF4-FFF2-40B4-BE49-F238E27FC236}">
                <a16:creationId xmlns:a16="http://schemas.microsoft.com/office/drawing/2014/main" id="{297450CD-7C1A-546B-98A9-B77863B63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2046" y="4001294"/>
            <a:ext cx="3123819" cy="233161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a:t>Goals &amp; Actions</a:t>
            </a: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GB"/>
              <a:t>Goals</a:t>
            </a:r>
            <a:endParaRPr lang="nb-NO"/>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a:t>Increase Conversion Rates:</a:t>
            </a:r>
          </a:p>
          <a:p>
            <a:pPr lvl="1">
              <a:lnSpc>
                <a:spcPct val="170000"/>
              </a:lnSpc>
            </a:pPr>
            <a:r>
              <a:rPr lang="en-US" b="1"/>
              <a:t>Goal: </a:t>
            </a:r>
            <a:r>
              <a:rPr lang="en-US"/>
              <a:t>Identify factors impacting the conversion rate and provide recommendations to improve it.</a:t>
            </a:r>
          </a:p>
          <a:p>
            <a:pPr lvl="1">
              <a:lnSpc>
                <a:spcPct val="170000"/>
              </a:lnSpc>
            </a:pPr>
            <a:r>
              <a:rPr lang="en-US" b="1"/>
              <a:t>Insight: </a:t>
            </a:r>
            <a:r>
              <a:rPr lang="en-US"/>
              <a:t>Highlight key stages where visitors drop off and suggest improvements to optimize the conversion funnel.</a:t>
            </a:r>
          </a:p>
          <a:p>
            <a:pPr>
              <a:lnSpc>
                <a:spcPct val="170000"/>
              </a:lnSpc>
            </a:pPr>
            <a:r>
              <a:rPr lang="en-US" b="1"/>
              <a:t>Enhance Customer Engagement:</a:t>
            </a:r>
            <a:endParaRPr lang="en-US"/>
          </a:p>
          <a:p>
            <a:pPr lvl="1">
              <a:lnSpc>
                <a:spcPct val="170000"/>
              </a:lnSpc>
            </a:pPr>
            <a:r>
              <a:rPr lang="en-US" b="1"/>
              <a:t>Goal: </a:t>
            </a:r>
            <a:r>
              <a:rPr lang="en-US"/>
              <a:t> Determine which types of content drive the highest engagement.</a:t>
            </a:r>
          </a:p>
          <a:p>
            <a:pPr lvl="1">
              <a:lnSpc>
                <a:spcPct val="170000"/>
              </a:lnSpc>
            </a:pPr>
            <a:r>
              <a:rPr lang="en-US" b="1"/>
              <a:t>Insight: </a:t>
            </a:r>
            <a:r>
              <a:rPr lang="en-US"/>
              <a:t>Analyze interaction levels with different types of marketing content to inform better content strategies.</a:t>
            </a:r>
          </a:p>
          <a:p>
            <a:pPr>
              <a:lnSpc>
                <a:spcPct val="170000"/>
              </a:lnSpc>
            </a:pPr>
            <a:r>
              <a:rPr lang="en-US" b="1"/>
              <a:t>Improve Customer Feedback Scores:</a:t>
            </a:r>
            <a:endParaRPr lang="en-US"/>
          </a:p>
          <a:p>
            <a:pPr lvl="1">
              <a:lnSpc>
                <a:spcPct val="170000"/>
              </a:lnSpc>
            </a:pPr>
            <a:r>
              <a:rPr lang="en-US" b="1"/>
              <a:t>Goal:</a:t>
            </a:r>
            <a:r>
              <a:rPr lang="en-US"/>
              <a:t> Understand common themes in customer reviews and provide actionable insights.</a:t>
            </a:r>
          </a:p>
          <a:p>
            <a:pPr lvl="1">
              <a:lnSpc>
                <a:spcPct val="170000"/>
              </a:lnSpc>
            </a:pPr>
            <a:r>
              <a:rPr lang="en-US" b="1"/>
              <a:t>Insight:</a:t>
            </a:r>
            <a:r>
              <a:rPr lang="en-US"/>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GB"/>
              <a:t>Actions</a:t>
            </a:r>
            <a:endParaRPr lang="nb-NO"/>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a:t>Increase Conversion Rates:</a:t>
            </a:r>
          </a:p>
          <a:p>
            <a:pPr lvl="1"/>
            <a:r>
              <a:rPr lang="en-US" sz="900" u="sng"/>
              <a:t>Target High-Performing Product Categories:  </a:t>
            </a:r>
            <a:r>
              <a:rPr lang="en-US" sz="900"/>
              <a:t> Focus marketing efforts on products with demonstrated high conversion rates, such as Ski Boots, Kayak, Surfboard, and Volleyball Implement seasonal promotions or personalized campaigns during peak months (e.g., January and September) to capitalize on these trends.</a:t>
            </a:r>
            <a:endParaRPr lang="en-US" sz="900" u="sng"/>
          </a:p>
          <a:p>
            <a:pPr lvl="1">
              <a:lnSpc>
                <a:spcPct val="120000"/>
              </a:lnSpc>
            </a:pPr>
            <a:endParaRPr lang="nb-NO" sz="900"/>
          </a:p>
          <a:p>
            <a:pPr>
              <a:lnSpc>
                <a:spcPct val="120000"/>
              </a:lnSpc>
            </a:pPr>
            <a:r>
              <a:rPr lang="nb-NO" sz="900" b="1"/>
              <a:t>Enhance Customer Engagement:</a:t>
            </a:r>
          </a:p>
          <a:p>
            <a:pPr lvl="1"/>
            <a:r>
              <a:rPr lang="en-US" sz="900" u="sng"/>
              <a:t>Revitalize Content Strategy:</a:t>
            </a:r>
            <a:r>
              <a:rPr lang="en-US" sz="90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a:p>
          <a:p>
            <a:pPr>
              <a:lnSpc>
                <a:spcPct val="120000"/>
              </a:lnSpc>
            </a:pPr>
            <a:r>
              <a:rPr lang="nb-NO" sz="900" b="1"/>
              <a:t>Improve Customer Feedback Scores:</a:t>
            </a:r>
          </a:p>
          <a:p>
            <a:pPr lvl="1">
              <a:lnSpc>
                <a:spcPct val="120000"/>
              </a:lnSpc>
            </a:pPr>
            <a:r>
              <a:rPr lang="en-US" sz="900" u="sng"/>
              <a:t>Address Mixed and Negative Feedback: </a:t>
            </a:r>
            <a:r>
              <a:rPr lang="en-US" sz="900"/>
              <a:t> Implement a feedback loop where mixed and negative reviews are analyzed to identify common issues. Develop improvement plans to address these concerns. Consider following up with dissatisfied customers</a:t>
            </a:r>
            <a:r>
              <a:rPr lang="nb-NO" sz="900"/>
              <a:t> to resolve issues and encourage re-rating, aiming to move average ratings closer to the 4.0 target.</a:t>
            </a:r>
            <a:endParaRPr lang="en-US" sz="90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1424</TotalTime>
  <Words>784</Words>
  <Application>Microsoft Office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Q 102</cp:lastModifiedBy>
  <cp:revision>30</cp:revision>
  <dcterms:created xsi:type="dcterms:W3CDTF">2024-09-03T15:16:05Z</dcterms:created>
  <dcterms:modified xsi:type="dcterms:W3CDTF">2026-10-08T22:31:33Z</dcterms:modified>
</cp:coreProperties>
</file>