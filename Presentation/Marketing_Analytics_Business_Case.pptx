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p:scale>
          <a:sx n="66" d="100"/>
          <a:sy n="66" d="100"/>
        </p:scale>
        <p:origin x="1410" y="9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28.09.2026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28.09.2026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MD Anisur Rahman</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normAutofit/>
          </a:bodyPr>
          <a:lstStyle/>
          <a:p>
            <a:r>
              <a:rPr lang="en-US" sz="4000" b="1" dirty="0"/>
              <a:t>Introduction to Business Problem</a:t>
            </a:r>
            <a:endParaRPr lang="nb-NO" sz="4000"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marL="0" indent="0">
              <a:lnSpc>
                <a:spcPct val="170000"/>
              </a:lnSpc>
              <a:buNone/>
            </a:pPr>
            <a:r>
              <a:rPr lang="en-GB" dirty="0" err="1"/>
              <a:t>ShopEasy</a:t>
            </a:r>
            <a:r>
              <a:rPr lang="en-GB" dirty="0"/>
              <a:t> is an online retail company that is facing low customer engagement and conversion rates, even after running several online marketing campaigns. As the Data Analyst for this project, my role is to </a:t>
            </a:r>
            <a:r>
              <a:rPr lang="en-GB" dirty="0" err="1"/>
              <a:t>analyze</a:t>
            </a:r>
            <a:r>
              <a:rPr lang="en-GB" dirty="0"/>
              <a:t> the marketing and customer data to understand what is causing these problems. I will look at customer engagement, conversion rates, marketing costs, campaign performance, and customer feedback. My goal is to find useful insights from the data and provide clear recommendations that can help </a:t>
            </a:r>
            <a:r>
              <a:rPr lang="en-GB" dirty="0" err="1"/>
              <a:t>ShopEasy</a:t>
            </a:r>
            <a:r>
              <a:rPr lang="en-GB" dirty="0"/>
              <a:t> improve its marketing performance, increase customer engagement, and generate more sales.</a:t>
            </a:r>
          </a:p>
          <a:p>
            <a:pPr marL="0" indent="0">
              <a:lnSpc>
                <a:spcPct val="170000"/>
              </a:lnSpc>
              <a:buNone/>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sz="3200" b="1" dirty="0">
                <a:latin typeface="+mn-lt"/>
                <a:ea typeface="+mn-ea"/>
                <a:cs typeface="+mn-cs"/>
              </a:rPr>
              <a:t>Subject: Request for Data Analysis to Improve Marketing Strategy</a:t>
            </a:r>
            <a:endParaRPr lang="nb-NO" sz="3200" b="1" dirty="0">
              <a:latin typeface="+mn-lt"/>
              <a:ea typeface="+mn-ea"/>
              <a:cs typeface="+mn-cs"/>
            </a:endParaRPr>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GB" dirty="0"/>
              <a:t>Hi Anisur,</a:t>
            </a:r>
          </a:p>
          <a:p>
            <a:pPr marL="0" indent="0">
              <a:lnSpc>
                <a:spcPct val="170000"/>
              </a:lnSpc>
              <a:buNone/>
            </a:pPr>
            <a:r>
              <a:rPr lang="en-GB" dirty="0"/>
              <a:t>I am the Marketing Manager at </a:t>
            </a:r>
            <a:r>
              <a:rPr lang="en-GB" dirty="0" err="1"/>
              <a:t>ShopEasy</a:t>
            </a:r>
            <a:r>
              <a:rPr lang="en-GB" dirty="0"/>
              <a:t>. Recently, we have noticed that our customer engagement and conversion rates are going down, even though we are spending more on online marketing.</a:t>
            </a:r>
          </a:p>
          <a:p>
            <a:pPr marL="0" indent="0">
              <a:lnSpc>
                <a:spcPct val="170000"/>
              </a:lnSpc>
              <a:buNone/>
            </a:pPr>
            <a:r>
              <a:rPr lang="en-GB" dirty="0"/>
              <a:t>We would like you to </a:t>
            </a:r>
            <a:r>
              <a:rPr lang="en-GB" dirty="0" err="1"/>
              <a:t>analyze</a:t>
            </a:r>
            <a:r>
              <a:rPr lang="en-GB" dirty="0"/>
              <a:t> our marketing data and help us understand what is causing this problem. We want to know which campaigns are performing well, which areas need improvement, and how we can get better results from our marketing budget.</a:t>
            </a:r>
          </a:p>
          <a:p>
            <a:pPr marL="0" indent="0">
              <a:lnSpc>
                <a:spcPct val="170000"/>
              </a:lnSpc>
              <a:buNone/>
            </a:pPr>
            <a:r>
              <a:rPr lang="en-GB" dirty="0"/>
              <a:t>We have provided customer and marketing data, including campaign performance, customer information, and customer feedback. Please </a:t>
            </a:r>
            <a:r>
              <a:rPr lang="en-GB" dirty="0" err="1"/>
              <a:t>analyze</a:t>
            </a:r>
            <a:r>
              <a:rPr lang="en-GB" dirty="0"/>
              <a:t> the data and provide us with useful insights and recommendations that can help improve our marketing performance.</a:t>
            </a:r>
          </a:p>
          <a:p>
            <a:pPr marL="0" indent="0">
              <a:lnSpc>
                <a:spcPct val="170000"/>
              </a:lnSpc>
              <a:buNone/>
            </a:pPr>
            <a:r>
              <a:rPr lang="en-GB" dirty="0"/>
              <a:t>Looking forward to your analysis.</a:t>
            </a:r>
          </a:p>
          <a:p>
            <a:pPr marL="0" indent="0">
              <a:lnSpc>
                <a:spcPct val="120000"/>
              </a:lnSpc>
              <a:spcBef>
                <a:spcPts val="400"/>
              </a:spcBef>
              <a:buNone/>
            </a:pPr>
            <a:endParaRPr lang="en-GB" dirty="0"/>
          </a:p>
          <a:p>
            <a:pPr marL="0" indent="0">
              <a:lnSpc>
                <a:spcPct val="120000"/>
              </a:lnSpc>
              <a:spcBef>
                <a:spcPts val="400"/>
              </a:spcBef>
              <a:buNone/>
            </a:pPr>
            <a:r>
              <a:rPr lang="en-GB" dirty="0"/>
              <a:t>Best regards,</a:t>
            </a:r>
          </a:p>
          <a:p>
            <a:pPr marL="0" indent="0">
              <a:lnSpc>
                <a:spcPct val="120000"/>
              </a:lnSpc>
              <a:spcBef>
                <a:spcPts val="400"/>
              </a:spcBef>
              <a:buNone/>
            </a:pPr>
            <a:r>
              <a:rPr lang="en-GB" dirty="0"/>
              <a:t>Jane Doe</a:t>
            </a:r>
          </a:p>
          <a:p>
            <a:pPr marL="0" indent="0">
              <a:lnSpc>
                <a:spcPct val="120000"/>
              </a:lnSpc>
              <a:spcBef>
                <a:spcPts val="400"/>
              </a:spcBef>
              <a:buNone/>
            </a:pPr>
            <a:r>
              <a:rPr lang="en-GB" dirty="0"/>
              <a:t>Marketing Manager</a:t>
            </a:r>
          </a:p>
          <a:p>
            <a:pPr marL="0" indent="0">
              <a:lnSpc>
                <a:spcPct val="120000"/>
              </a:lnSpc>
              <a:spcBef>
                <a:spcPts val="400"/>
              </a:spcBef>
              <a:buNone/>
            </a:pPr>
            <a:r>
              <a:rPr lang="en-GB" dirty="0" err="1"/>
              <a:t>ShopEasy</a:t>
            </a:r>
            <a:endParaRPr lang="en-US" dirty="0"/>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sz="3200" b="1" dirty="0">
                <a:latin typeface="+mn-lt"/>
                <a:ea typeface="+mn-ea"/>
                <a:cs typeface="+mn-cs"/>
              </a:rPr>
              <a:t>Subject: Request for Customer Feedback Analysis</a:t>
            </a:r>
            <a:endParaRPr lang="nb-NO" sz="3200" b="1" dirty="0">
              <a:latin typeface="+mn-lt"/>
              <a:ea typeface="+mn-ea"/>
              <a:cs typeface="+mn-cs"/>
            </a:endParaRPr>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GB" dirty="0"/>
              <a:t>Hi Anisur,</a:t>
            </a:r>
          </a:p>
          <a:p>
            <a:pPr marL="0" indent="0">
              <a:lnSpc>
                <a:spcPct val="170000"/>
              </a:lnSpc>
              <a:buNone/>
            </a:pPr>
            <a:r>
              <a:rPr lang="en-GB" dirty="0"/>
              <a:t>I am the Customer Experience Manager at </a:t>
            </a:r>
            <a:r>
              <a:rPr lang="en-GB" dirty="0" err="1"/>
              <a:t>ShopEasy</a:t>
            </a:r>
            <a:r>
              <a:rPr lang="en-GB" dirty="0"/>
              <a:t>. Recently, we have noticed a drop in customer engagement and satisfaction, which may also be affecting our conversion rates.</a:t>
            </a:r>
          </a:p>
          <a:p>
            <a:pPr marL="0" indent="0">
              <a:lnSpc>
                <a:spcPct val="170000"/>
              </a:lnSpc>
              <a:buNone/>
            </a:pPr>
            <a:r>
              <a:rPr lang="en-GB" dirty="0"/>
              <a:t>We have collected customer feedback from reviews and social media comments. We would like you to </a:t>
            </a:r>
            <a:r>
              <a:rPr lang="en-GB" dirty="0" err="1"/>
              <a:t>analyze</a:t>
            </a:r>
            <a:r>
              <a:rPr lang="en-GB" dirty="0"/>
              <a:t> this data to understand what customers like, what problems they are facing, and how they feel about our products and services.</a:t>
            </a:r>
          </a:p>
          <a:p>
            <a:pPr marL="0" indent="0">
              <a:lnSpc>
                <a:spcPct val="170000"/>
              </a:lnSpc>
              <a:buNone/>
            </a:pPr>
            <a:r>
              <a:rPr lang="en-GB" dirty="0"/>
              <a:t>Please identify the main customer concerns, positive and negative feedback, and any important patterns in the data. We would also like clear insights and recommendations that can help us improve customer experience, increase engagement, and support better business decisions.</a:t>
            </a:r>
          </a:p>
          <a:p>
            <a:pPr marL="0" indent="0">
              <a:lnSpc>
                <a:spcPct val="170000"/>
              </a:lnSpc>
              <a:buNone/>
            </a:pPr>
            <a:r>
              <a:rPr lang="en-GB" dirty="0"/>
              <a:t>Thank you for your support. We look forward to your analysis.</a:t>
            </a:r>
          </a:p>
          <a:p>
            <a:pPr marL="0" indent="0">
              <a:lnSpc>
                <a:spcPct val="120000"/>
              </a:lnSpc>
              <a:spcBef>
                <a:spcPts val="400"/>
              </a:spcBef>
              <a:buNone/>
            </a:pPr>
            <a:endParaRPr lang="en-GB" dirty="0"/>
          </a:p>
          <a:p>
            <a:pPr marL="0" indent="0">
              <a:lnSpc>
                <a:spcPct val="120000"/>
              </a:lnSpc>
              <a:spcBef>
                <a:spcPts val="400"/>
              </a:spcBef>
              <a:buNone/>
            </a:pPr>
            <a:r>
              <a:rPr lang="en-GB" dirty="0"/>
              <a:t>Best regards,</a:t>
            </a:r>
          </a:p>
          <a:p>
            <a:pPr marL="0" indent="0">
              <a:lnSpc>
                <a:spcPct val="120000"/>
              </a:lnSpc>
              <a:spcBef>
                <a:spcPts val="400"/>
              </a:spcBef>
              <a:buNone/>
            </a:pPr>
            <a:r>
              <a:rPr lang="en-GB" dirty="0"/>
              <a:t>John Smith</a:t>
            </a:r>
          </a:p>
          <a:p>
            <a:pPr marL="0" indent="0">
              <a:lnSpc>
                <a:spcPct val="120000"/>
              </a:lnSpc>
              <a:spcBef>
                <a:spcPts val="400"/>
              </a:spcBef>
              <a:buNone/>
            </a:pPr>
            <a:r>
              <a:rPr lang="en-GB" dirty="0"/>
              <a:t>Customer Experience Manager</a:t>
            </a:r>
          </a:p>
          <a:p>
            <a:pPr marL="0" indent="0">
              <a:lnSpc>
                <a:spcPct val="120000"/>
              </a:lnSpc>
              <a:spcBef>
                <a:spcPts val="400"/>
              </a:spcBef>
              <a:buNone/>
            </a:pPr>
            <a:r>
              <a:rPr lang="en-GB" dirty="0" err="1"/>
              <a:t>ShopEasy</a:t>
            </a:r>
            <a:r>
              <a:rPr lang="en-GB" dirty="0"/>
              <a:t>                                                                                                                                                         </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normAutofit/>
          </a:bodyPr>
          <a:lstStyle/>
          <a:p>
            <a:r>
              <a:rPr lang="en-US" sz="3600" b="1" dirty="0">
                <a:latin typeface="+mn-lt"/>
                <a:ea typeface="+mn-ea"/>
                <a:cs typeface="+mn-cs"/>
              </a:rPr>
              <a:t>Key Performance Indicators (KPIs)</a:t>
            </a:r>
            <a:endParaRPr lang="nb-NO" sz="3600" b="1" dirty="0">
              <a:latin typeface="+mn-lt"/>
              <a:ea typeface="+mn-ea"/>
              <a:cs typeface="+mn-cs"/>
            </a:endParaRPr>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85000" lnSpcReduction="10000"/>
          </a:bodyPr>
          <a:lstStyle/>
          <a:p>
            <a:pPr>
              <a:lnSpc>
                <a:spcPct val="150000"/>
              </a:lnSpc>
            </a:pPr>
            <a:r>
              <a:rPr lang="en-GB" b="1" dirty="0"/>
              <a:t>Conversion Rate: </a:t>
            </a:r>
            <a:r>
              <a:rPr lang="en-GB" dirty="0"/>
              <a:t>Percentage of website visitors who complete a purchase.</a:t>
            </a:r>
          </a:p>
          <a:p>
            <a:pPr>
              <a:lnSpc>
                <a:spcPct val="150000"/>
              </a:lnSpc>
            </a:pPr>
            <a:r>
              <a:rPr lang="en-GB" b="1" dirty="0"/>
              <a:t>Customer Engagement Rate: </a:t>
            </a:r>
            <a:r>
              <a:rPr lang="en-GB" dirty="0"/>
              <a:t>Percentage of customers who interact with marketing content through clicks, likes, comments, or shares.</a:t>
            </a:r>
          </a:p>
          <a:p>
            <a:pPr>
              <a:lnSpc>
                <a:spcPct val="150000"/>
              </a:lnSpc>
            </a:pPr>
            <a:r>
              <a:rPr lang="en-GB" b="1" dirty="0"/>
              <a:t>Average Order Value (AOV): </a:t>
            </a:r>
            <a:r>
              <a:rPr lang="en-GB" dirty="0"/>
              <a:t>Average amount a customer spends on each order.</a:t>
            </a:r>
          </a:p>
          <a:p>
            <a:pPr>
              <a:lnSpc>
                <a:spcPct val="150000"/>
              </a:lnSpc>
            </a:pPr>
            <a:r>
              <a:rPr lang="en-GB" b="1" dirty="0"/>
              <a:t>Customer Feedback Score: </a:t>
            </a:r>
            <a:r>
              <a:rPr lang="en-GB" dirty="0"/>
              <a:t>Average rating given by customers based on their experience with </a:t>
            </a:r>
            <a:r>
              <a:rPr lang="en-GB" dirty="0" err="1"/>
              <a:t>ShopEasy</a:t>
            </a:r>
            <a:r>
              <a:rPr lang="en-GB" dirty="0"/>
              <a:t>.</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normAutofit/>
          </a:bodyPr>
          <a:lstStyle/>
          <a:p>
            <a:r>
              <a:rPr lang="en-US" sz="3600" b="1" dirty="0">
                <a:latin typeface="+mn-lt"/>
                <a:ea typeface="+mn-ea"/>
                <a:cs typeface="+mn-cs"/>
              </a:rPr>
              <a:t>Business Goals</a:t>
            </a:r>
            <a:endParaRPr lang="nb-NO" sz="3600" b="1" dirty="0">
              <a:latin typeface="+mn-lt"/>
              <a:ea typeface="+mn-ea"/>
              <a:cs typeface="+mn-cs"/>
            </a:endParaRPr>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lnSpcReduction="10000"/>
          </a:bodyPr>
          <a:lstStyle/>
          <a:p>
            <a:pPr marL="0" indent="0">
              <a:buNone/>
            </a:pPr>
            <a:r>
              <a:rPr lang="en-GB" sz="2400" dirty="0"/>
              <a:t>• </a:t>
            </a:r>
            <a:r>
              <a:rPr lang="en-GB" sz="2400" b="1" dirty="0"/>
              <a:t>Increase Conversion Rate</a:t>
            </a:r>
          </a:p>
          <a:p>
            <a:pPr marL="0" indent="0">
              <a:buNone/>
            </a:pPr>
            <a:r>
              <a:rPr lang="en-GB" sz="1900" b="1" dirty="0"/>
              <a:t> Goal: </a:t>
            </a:r>
            <a:r>
              <a:rPr lang="en-GB" sz="1900" dirty="0"/>
              <a:t>Find the main factors affecting conversion rates and identify ways to increase sales.</a:t>
            </a:r>
          </a:p>
          <a:p>
            <a:pPr marL="0" indent="0">
              <a:buNone/>
            </a:pPr>
            <a:r>
              <a:rPr lang="en-GB" sz="1900" dirty="0"/>
              <a:t> </a:t>
            </a:r>
            <a:r>
              <a:rPr lang="en-GB" sz="1900" b="1" dirty="0"/>
              <a:t>Insight:</a:t>
            </a:r>
            <a:r>
              <a:rPr lang="en-GB" sz="1900" dirty="0"/>
              <a:t> Identify where customers drop off before making a purchase and suggest ways to improve the buying process.</a:t>
            </a:r>
          </a:p>
          <a:p>
            <a:pPr marL="0" indent="0">
              <a:buNone/>
            </a:pPr>
            <a:r>
              <a:rPr lang="en-GB" sz="2400" dirty="0"/>
              <a:t>• </a:t>
            </a:r>
            <a:r>
              <a:rPr lang="en-GB" sz="2400" b="1" dirty="0"/>
              <a:t>Improve Customer Engagement</a:t>
            </a:r>
          </a:p>
          <a:p>
            <a:pPr marL="0" indent="0">
              <a:buNone/>
            </a:pPr>
            <a:r>
              <a:rPr lang="en-GB" sz="1900" dirty="0"/>
              <a:t> </a:t>
            </a:r>
            <a:r>
              <a:rPr lang="en-GB" sz="1900" b="1" dirty="0"/>
              <a:t>Goal:</a:t>
            </a:r>
            <a:r>
              <a:rPr lang="en-GB" sz="1900" dirty="0"/>
              <a:t> Find which types of marketing content get the most customer engagement.</a:t>
            </a:r>
          </a:p>
          <a:p>
            <a:pPr marL="0" indent="0">
              <a:buNone/>
            </a:pPr>
            <a:r>
              <a:rPr lang="en-GB" sz="1900" dirty="0"/>
              <a:t> </a:t>
            </a:r>
            <a:r>
              <a:rPr lang="en-GB" sz="1900" b="1" dirty="0"/>
              <a:t>Insight:</a:t>
            </a:r>
            <a:r>
              <a:rPr lang="en-GB" sz="1900" dirty="0"/>
              <a:t> </a:t>
            </a:r>
            <a:r>
              <a:rPr lang="en-GB" sz="1900" dirty="0" err="1"/>
              <a:t>Analyze</a:t>
            </a:r>
            <a:r>
              <a:rPr lang="en-GB" sz="1900" dirty="0"/>
              <a:t> clicks, likes, comments, and other interactions to understand which content performs best.</a:t>
            </a:r>
          </a:p>
          <a:p>
            <a:pPr marL="0" indent="0">
              <a:buNone/>
            </a:pPr>
            <a:r>
              <a:rPr lang="en-GB" sz="2400" dirty="0"/>
              <a:t>• </a:t>
            </a:r>
            <a:r>
              <a:rPr lang="en-GB" sz="2400" b="1" dirty="0"/>
              <a:t>Improve Customer Feedback Score</a:t>
            </a:r>
          </a:p>
          <a:p>
            <a:pPr marL="0" indent="0">
              <a:buNone/>
            </a:pPr>
            <a:r>
              <a:rPr lang="en-GB" sz="2200" dirty="0"/>
              <a:t> </a:t>
            </a:r>
            <a:r>
              <a:rPr lang="en-GB" sz="1900" b="1" dirty="0"/>
              <a:t>Goal:</a:t>
            </a:r>
            <a:r>
              <a:rPr lang="en-GB" sz="1900" dirty="0"/>
              <a:t> Understand what customers are saying about </a:t>
            </a:r>
            <a:r>
              <a:rPr lang="en-GB" sz="1900" dirty="0" err="1"/>
              <a:t>ShopEasy’s</a:t>
            </a:r>
            <a:r>
              <a:rPr lang="en-GB" sz="1900" dirty="0"/>
              <a:t> products and services.</a:t>
            </a:r>
          </a:p>
          <a:p>
            <a:pPr marL="0" indent="0">
              <a:buNone/>
            </a:pPr>
            <a:r>
              <a:rPr lang="en-GB" sz="1900" dirty="0"/>
              <a:t> </a:t>
            </a:r>
            <a:r>
              <a:rPr lang="en-GB" sz="1900" b="1" dirty="0"/>
              <a:t>Insight:</a:t>
            </a:r>
            <a:r>
              <a:rPr lang="en-GB" sz="1900" dirty="0"/>
              <a:t> Identify common positive and negative feedback to find areas for product and service improvement.</a:t>
            </a:r>
            <a:endParaRPr lang="en-US" sz="1900" dirty="0"/>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650</TotalTime>
  <Words>672</Words>
  <Application>Microsoft Office PowerPoint</Application>
  <PresentationFormat>Widescreen</PresentationFormat>
  <Paragraphs>46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Customer Feedback Analysis</vt:lpstr>
      <vt:lpstr>Key Performance Indicators (KPIs)</vt:lpstr>
      <vt:lpstr>Business 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Q 102</cp:lastModifiedBy>
  <cp:revision>11</cp:revision>
  <dcterms:created xsi:type="dcterms:W3CDTF">2024-07-20T13:50:58Z</dcterms:created>
  <dcterms:modified xsi:type="dcterms:W3CDTF">2026-09-28T03:17:40Z</dcterms:modified>
</cp:coreProperties>
</file>